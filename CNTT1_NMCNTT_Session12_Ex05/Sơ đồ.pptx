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/>
          <p:nvPr/>
        </p:nvPicPr>
        <p:blipFill>
          <a:blip r:embed="rId1"/>
          <a:srcRect l="67333" t="18463" r="29605" b="75769"/>
          <a:stretch>
            <a:fillRect/>
          </a:stretch>
        </p:blipFill>
        <p:spPr>
          <a:xfrm>
            <a:off x="305435" y="238760"/>
            <a:ext cx="828040" cy="10255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332230" y="626745"/>
            <a:ext cx="2606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2000" b="1"/>
              <a:t>BÁO CÁO AN NINH</a:t>
            </a:r>
            <a:endParaRPr lang="vi-VN" altLang="en-US" sz="2000" b="1"/>
          </a:p>
        </p:txBody>
      </p:sp>
      <p:sp>
        <p:nvSpPr>
          <p:cNvPr id="7" name="Text Box 6"/>
          <p:cNvSpPr txBox="1"/>
          <p:nvPr/>
        </p:nvSpPr>
        <p:spPr>
          <a:xfrm>
            <a:off x="305435" y="1388110"/>
            <a:ext cx="2359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Tổng Quan Sự </a:t>
            </a:r>
            <a:r>
              <a:rPr lang="vi-VN" altLang="en-US"/>
              <a:t>Kiện</a:t>
            </a:r>
            <a:endParaRPr lang="vi-VN" altLang="en-US"/>
          </a:p>
        </p:txBody>
      </p:sp>
      <p:graphicFrame>
        <p:nvGraphicFramePr>
          <p:cNvPr id="9" name="Table 8"/>
          <p:cNvGraphicFramePr/>
          <p:nvPr/>
        </p:nvGraphicFramePr>
        <p:xfrm>
          <a:off x="305435" y="1880235"/>
          <a:ext cx="2167255" cy="720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7255"/>
              </a:tblGrid>
              <a:tr h="7207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vi-VN" altLang="en-US">
                          <a:solidFill>
                            <a:srgbClr val="00B0F0"/>
                          </a:solidFill>
                        </a:rPr>
                        <a:t>Tổng cảnh báo</a:t>
                      </a:r>
                      <a:endParaRPr lang="vi-VN" altLang="en-US">
                        <a:solidFill>
                          <a:srgbClr val="00B0F0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vi-VN" altLang="en-US"/>
                        <a:t>1,</a:t>
                      </a:r>
                      <a:r>
                        <a:rPr lang="vi-VN" altLang="en-US"/>
                        <a:t>248</a:t>
                      </a:r>
                      <a:endParaRPr lang="vi-V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/>
          <p:nvPr>
            <p:custDataLst>
              <p:tags r:id="rId2"/>
            </p:custDataLst>
          </p:nvPr>
        </p:nvGraphicFramePr>
        <p:xfrm>
          <a:off x="3154045" y="1880235"/>
          <a:ext cx="2186940" cy="678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6940"/>
              </a:tblGrid>
              <a:tr h="67881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vi-VN" altLang="en-US">
                          <a:solidFill>
                            <a:srgbClr val="FF0000"/>
                          </a:solidFill>
                        </a:rPr>
                        <a:t>Cao</a:t>
                      </a:r>
                      <a:endParaRPr lang="vi-VN" altLang="en-US">
                        <a:solidFill>
                          <a:srgbClr val="FF0000"/>
                        </a:solidFill>
                      </a:endParaRPr>
                    </a:p>
                    <a:p>
                      <a:pPr algn="l">
                        <a:buNone/>
                      </a:pPr>
                      <a:r>
                        <a:rPr lang="vi-VN" altLang="en-US"/>
                        <a:t>312</a:t>
                      </a:r>
                      <a:endParaRPr lang="vi-V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>
            <p:custDataLst>
              <p:tags r:id="rId3"/>
            </p:custDataLst>
          </p:nvPr>
        </p:nvGraphicFramePr>
        <p:xfrm>
          <a:off x="6022340" y="1880235"/>
          <a:ext cx="2186940" cy="678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6940"/>
              </a:tblGrid>
              <a:tr h="678180">
                <a:tc>
                  <a:txBody>
                    <a:bodyPr/>
                    <a:p>
                      <a:pPr>
                        <a:buNone/>
                      </a:pPr>
                      <a:r>
                        <a:rPr lang="vi-VN" altLang="en-US">
                          <a:solidFill>
                            <a:srgbClr val="FFFF00"/>
                          </a:solidFill>
                        </a:rPr>
                        <a:t>Trung bình</a:t>
                      </a:r>
                      <a:endParaRPr lang="vi-VN" altLang="en-US">
                        <a:solidFill>
                          <a:srgbClr val="FFFF0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vi-VN" altLang="en-US"/>
                        <a:t>645</a:t>
                      </a:r>
                      <a:endParaRPr lang="vi-V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>
            <p:custDataLst>
              <p:tags r:id="rId4"/>
            </p:custDataLst>
          </p:nvPr>
        </p:nvGraphicFramePr>
        <p:xfrm>
          <a:off x="8890635" y="1879600"/>
          <a:ext cx="2186940" cy="678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6940"/>
              </a:tblGrid>
              <a:tr h="678815">
                <a:tc>
                  <a:txBody>
                    <a:bodyPr/>
                    <a:p>
                      <a:pPr>
                        <a:buNone/>
                      </a:pPr>
                      <a:r>
                        <a:rPr lang="vi-VN" altLang="en-US">
                          <a:solidFill>
                            <a:srgbClr val="7030A0"/>
                          </a:solidFill>
                        </a:rPr>
                        <a:t>Thấp</a:t>
                      </a:r>
                      <a:endParaRPr lang="vi-VN" altLang="en-US">
                        <a:solidFill>
                          <a:srgbClr val="7030A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vi-VN" altLang="en-US"/>
                        <a:t>291</a:t>
                      </a:r>
                      <a:endParaRPr lang="vi-V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305435" y="2807970"/>
            <a:ext cx="1449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/>
              <a:t>Top mã độc</a:t>
            </a:r>
            <a:endParaRPr lang="vi-VN" altLang="en-US" b="1"/>
          </a:p>
        </p:txBody>
      </p:sp>
      <p:pic>
        <p:nvPicPr>
          <p:cNvPr id="16" name="Picture 15"/>
          <p:cNvPicPr/>
          <p:nvPr/>
        </p:nvPicPr>
        <p:blipFill>
          <a:blip r:embed="rId1"/>
          <a:srcRect l="68074" t="37315" r="24364" b="53685"/>
          <a:stretch>
            <a:fillRect/>
          </a:stretch>
        </p:blipFill>
        <p:spPr>
          <a:xfrm>
            <a:off x="305435" y="3383280"/>
            <a:ext cx="2350135" cy="1932940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1"/>
          <a:srcRect l="74420" t="38833" r="16383" b="60278"/>
          <a:stretch>
            <a:fillRect/>
          </a:stretch>
        </p:blipFill>
        <p:spPr>
          <a:xfrm>
            <a:off x="2664460" y="3724275"/>
            <a:ext cx="3111500" cy="76200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1"/>
          <a:srcRect l="74420" t="38833" r="16383" b="60278"/>
          <a:stretch>
            <a:fillRect/>
          </a:stretch>
        </p:blipFill>
        <p:spPr>
          <a:xfrm>
            <a:off x="2664460" y="4238625"/>
            <a:ext cx="3112135" cy="7620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1"/>
          <a:srcRect l="74420" t="38833" r="16383" b="60278"/>
          <a:stretch>
            <a:fillRect/>
          </a:stretch>
        </p:blipFill>
        <p:spPr>
          <a:xfrm>
            <a:off x="2664460" y="4728210"/>
            <a:ext cx="3112135" cy="7620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2664460" y="3331845"/>
            <a:ext cx="1029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E</a:t>
            </a:r>
            <a:r>
              <a:rPr lang="vi-VN" altLang="en-US"/>
              <a:t>mote</a:t>
            </a:r>
            <a:r>
              <a:rPr lang="vi-VN" altLang="en-US"/>
              <a:t>t</a:t>
            </a:r>
            <a:endParaRPr lang="vi-VN" altLang="en-US"/>
          </a:p>
        </p:txBody>
      </p:sp>
      <p:sp>
        <p:nvSpPr>
          <p:cNvPr id="21" name="Text Box 20"/>
          <p:cNvSpPr txBox="1"/>
          <p:nvPr/>
        </p:nvSpPr>
        <p:spPr>
          <a:xfrm>
            <a:off x="4416425" y="3386455"/>
            <a:ext cx="1605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312 (</a:t>
            </a:r>
            <a:r>
              <a:rPr lang="vi-VN" altLang="en-US"/>
              <a:t>25%)</a:t>
            </a:r>
            <a:endParaRPr lang="vi-VN" altLang="en-US"/>
          </a:p>
        </p:txBody>
      </p:sp>
      <p:sp>
        <p:nvSpPr>
          <p:cNvPr id="22" name="Text Box 21"/>
          <p:cNvSpPr txBox="1"/>
          <p:nvPr/>
        </p:nvSpPr>
        <p:spPr>
          <a:xfrm>
            <a:off x="2664460" y="3835400"/>
            <a:ext cx="1505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Lokibot</a:t>
            </a:r>
            <a:endParaRPr lang="vi-VN" altLang="en-US"/>
          </a:p>
        </p:txBody>
      </p:sp>
      <p:sp>
        <p:nvSpPr>
          <p:cNvPr id="23" name="Text Box 22"/>
          <p:cNvSpPr txBox="1"/>
          <p:nvPr/>
        </p:nvSpPr>
        <p:spPr>
          <a:xfrm>
            <a:off x="4416425" y="3788410"/>
            <a:ext cx="1605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645 (51,</a:t>
            </a:r>
            <a:r>
              <a:rPr lang="vi-VN" altLang="en-US"/>
              <a:t>6%)</a:t>
            </a:r>
            <a:endParaRPr lang="vi-VN" altLang="en-US"/>
          </a:p>
        </p:txBody>
      </p:sp>
      <p:sp>
        <p:nvSpPr>
          <p:cNvPr id="25" name="Text Box 24"/>
          <p:cNvSpPr txBox="1"/>
          <p:nvPr/>
        </p:nvSpPr>
        <p:spPr>
          <a:xfrm>
            <a:off x="2664460" y="4319270"/>
            <a:ext cx="1570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Cobalt </a:t>
            </a:r>
            <a:r>
              <a:rPr lang="vi-VN" altLang="en-US"/>
              <a:t>Strike</a:t>
            </a:r>
            <a:endParaRPr lang="vi-VN" altLang="en-US"/>
          </a:p>
        </p:txBody>
      </p:sp>
      <p:sp>
        <p:nvSpPr>
          <p:cNvPr id="26" name="Text Box 25"/>
          <p:cNvSpPr txBox="1"/>
          <p:nvPr/>
        </p:nvSpPr>
        <p:spPr>
          <a:xfrm>
            <a:off x="4416425" y="4318635"/>
            <a:ext cx="1506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186 (14,</a:t>
            </a:r>
            <a:r>
              <a:rPr lang="vi-VN" altLang="en-US"/>
              <a:t>9%)</a:t>
            </a:r>
            <a:endParaRPr lang="vi-VN" altLang="en-US"/>
          </a:p>
        </p:txBody>
      </p:sp>
      <p:sp>
        <p:nvSpPr>
          <p:cNvPr id="28" name="Text Box 27"/>
          <p:cNvSpPr txBox="1"/>
          <p:nvPr/>
        </p:nvSpPr>
        <p:spPr>
          <a:xfrm>
            <a:off x="2655570" y="4919345"/>
            <a:ext cx="1152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Khác</a:t>
            </a:r>
            <a:endParaRPr lang="vi-VN" altLang="en-US"/>
          </a:p>
        </p:txBody>
      </p:sp>
      <p:sp>
        <p:nvSpPr>
          <p:cNvPr id="29" name="Text Box 28"/>
          <p:cNvSpPr txBox="1"/>
          <p:nvPr/>
        </p:nvSpPr>
        <p:spPr>
          <a:xfrm>
            <a:off x="4416425" y="4929505"/>
            <a:ext cx="1473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105 (8,</a:t>
            </a:r>
            <a:r>
              <a:rPr lang="vi-VN" altLang="en-US"/>
              <a:t>5%)</a:t>
            </a:r>
            <a:endParaRPr lang="vi-VN" altLang="en-US"/>
          </a:p>
        </p:txBody>
      </p:sp>
      <p:pic>
        <p:nvPicPr>
          <p:cNvPr id="30" name="Picture 29"/>
          <p:cNvPicPr/>
          <p:nvPr/>
        </p:nvPicPr>
        <p:blipFill>
          <a:blip r:embed="rId1"/>
          <a:srcRect l="83833" t="36148" r="3401" b="50731"/>
          <a:stretch>
            <a:fillRect/>
          </a:stretch>
        </p:blipFill>
        <p:spPr>
          <a:xfrm>
            <a:off x="6103620" y="2956560"/>
            <a:ext cx="5894070" cy="3790950"/>
          </a:xfrm>
          <a:prstGeom prst="rect">
            <a:avLst/>
          </a:prstGeom>
        </p:spPr>
      </p:pic>
      <p:pic>
        <p:nvPicPr>
          <p:cNvPr id="31" name="Picture 30"/>
          <p:cNvPicPr/>
          <p:nvPr/>
        </p:nvPicPr>
        <p:blipFill>
          <a:blip r:embed="rId1"/>
          <a:srcRect l="83068" t="33657" r="15642" b="50019"/>
          <a:stretch>
            <a:fillRect/>
          </a:stretch>
        </p:blipFill>
        <p:spPr>
          <a:xfrm>
            <a:off x="5833110" y="2956560"/>
            <a:ext cx="100330" cy="35261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172*53"/>
  <p:tag name="TABLE_ENDDRAG_RECT" val="248*148*172*53"/>
</p:tagLst>
</file>

<file path=ppt/tags/tag64.xml><?xml version="1.0" encoding="utf-8"?>
<p:tagLst xmlns:p="http://schemas.openxmlformats.org/presentationml/2006/main">
  <p:tag name="TABLE_ENDDRAG_ORIGIN_RECT" val="172*53"/>
  <p:tag name="TABLE_ENDDRAG_RECT" val="248*209*172*53"/>
</p:tagLst>
</file>

<file path=ppt/tags/tag65.xml><?xml version="1.0" encoding="utf-8"?>
<p:tagLst xmlns:p="http://schemas.openxmlformats.org/presentationml/2006/main">
  <p:tag name="TABLE_ENDDRAG_ORIGIN_RECT" val="172*53"/>
  <p:tag name="TABLE_ENDDRAG_RECT" val="474*210*172*53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WPS Presentation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admin</dc:creator>
  <cp:lastModifiedBy>Vinh Phạm</cp:lastModifiedBy>
  <cp:revision>4</cp:revision>
  <dcterms:created xsi:type="dcterms:W3CDTF">2026-10-26T08:11:22Z</dcterms:created>
  <dcterms:modified xsi:type="dcterms:W3CDTF">2026-10-26T08:11:52Z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6EFB60C5E2934AF9AAFCC285A58BE866_11</vt:lpwstr>
  </property>
</Properties>
</file>